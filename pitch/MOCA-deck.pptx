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lasio"/>
      <p:regular r:id="rId17"/>
    </p:embeddedFont>
    <p:embeddedFont>
      <p:font typeface="Gelasio Bold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8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1591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MOCA · Mobile Operators Competitor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14489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כל מהלך תחרותי בשוק הסלולר — על המסך שלך, לפני שהוא משפיע עליך.</a:t>
            </a:r>
            <a:endParaRPr lang="he-IL" sz="1100" dirty="0"/>
          </a:p>
          <a:p>
            <a:pPr rtl="1" algn="ctr" indent="0" marL="0">
              <a:lnSpc>
                <a:spcPct val="133000"/>
              </a:lnSpc>
              <a:buNone/>
            </a:pPr>
            <a:r>
              <a:rPr lang="he-IL" altLang="en-US" sz="11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מערכת מודיעין תחרותי אוטומטית לשוק הסלולר הישראלי.</a:t>
            </a:r>
            <a:endParaRPr lang="he-IL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71923" y="540544"/>
            <a:ext cx="3189759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25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המחיר של לא לדעת</a:t>
            </a:r>
            <a:endParaRPr lang="he-IL" sz="2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11448"/>
            <a:ext cx="4722763" cy="9396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39344" y="1253282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מהירות תגובה? אפס.</a:t>
            </a:r>
            <a:endParaRPr lang="he-IL" sz="1250" dirty="0"/>
          </a:p>
        </p:txBody>
      </p:sp>
      <p:sp>
        <p:nvSpPr>
          <p:cNvPr id="6" name="Text 2"/>
          <p:cNvSpPr/>
          <p:nvPr/>
        </p:nvSpPr>
        <p:spPr>
          <a:xfrm>
            <a:off x="637952" y="1521396"/>
            <a:ext cx="4396234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7000"/>
              </a:lnSpc>
              <a:buNone/>
            </a:pPr>
            <a:r>
              <a:rPr lang="he-IL" alt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שינוי מחיר אצל מתחרה מתגלה שעות עד יום אחרי. בשוק מלחמת מחירים — זה מאוחר מדי.</a:t>
            </a:r>
            <a:endParaRPr lang="he-IL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165896"/>
            <a:ext cx="4722763" cy="74570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39344" y="2307729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כיסוי? חלקי בלבד.</a:t>
            </a:r>
            <a:endParaRPr lang="he-IL" sz="1250" dirty="0"/>
          </a:p>
        </p:txBody>
      </p:sp>
      <p:sp>
        <p:nvSpPr>
          <p:cNvPr id="9" name="Text 4"/>
          <p:cNvSpPr/>
          <p:nvPr/>
        </p:nvSpPr>
        <p:spPr>
          <a:xfrm>
            <a:off x="637952" y="2575843"/>
            <a:ext cx="4396234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7000"/>
              </a:lnSpc>
              <a:buNone/>
            </a:pPr>
            <a:r>
              <a:rPr lang="he-IL" alt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קריאייטיב, באנרים, eSIM גלובלי, שוק אפור — אף אחד לא עוקב. הנזק מצטבר בשקט.</a:t>
            </a:r>
            <a:endParaRPr lang="he-IL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026420"/>
            <a:ext cx="4722763" cy="74570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39344" y="3168253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היסטוריה? לא קיימת.</a:t>
            </a:r>
            <a:endParaRPr lang="he-IL" sz="1250" dirty="0"/>
          </a:p>
        </p:txBody>
      </p:sp>
      <p:sp>
        <p:nvSpPr>
          <p:cNvPr id="12" name="Text 6"/>
          <p:cNvSpPr/>
          <p:nvPr/>
        </p:nvSpPr>
        <p:spPr>
          <a:xfrm>
            <a:off x="637952" y="3436367"/>
            <a:ext cx="4396234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7000"/>
              </a:lnSpc>
              <a:buNone/>
            </a:pPr>
            <a:r>
              <a:rPr lang="he-IL" alt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"מה סלקום פרסם לפני שלושה שבועות?" — אין ארכיון, אין מי לשאול, אין תשובה.</a:t>
            </a:r>
            <a:endParaRPr lang="he-IL" sz="1000" dirty="0"/>
          </a:p>
        </p:txBody>
      </p:sp>
      <p:sp>
        <p:nvSpPr>
          <p:cNvPr id="13" name="Shape 7"/>
          <p:cNvSpPr/>
          <p:nvPr/>
        </p:nvSpPr>
        <p:spPr>
          <a:xfrm>
            <a:off x="496119" y="3901306"/>
            <a:ext cx="4722763" cy="701576"/>
          </a:xfrm>
          <a:prstGeom prst="roundRect">
            <a:avLst>
              <a:gd name="adj" fmla="val 2728"/>
            </a:avLst>
          </a:prstGeom>
          <a:solidFill>
            <a:srgbClr val="450707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1866" y="4082430"/>
            <a:ext cx="159469" cy="12754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23664" y="4047976"/>
            <a:ext cx="4180656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7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בשוק שבו מלחמת מחירים רצה בזמן אמת — ההחלטות מתקבלות על תמונה של אתמול.</a:t>
            </a:r>
            <a:endParaRPr lang="he-IL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238" y="1522735"/>
            <a:ext cx="7108999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he-IL" altLang="en-US" sz="3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מודיעין תחרותי. אוטומטי. בזמן אמת.</a:t>
            </a:r>
            <a:endParaRPr lang="he-IL" sz="3850" dirty="0"/>
          </a:p>
        </p:txBody>
      </p:sp>
      <p:sp>
        <p:nvSpPr>
          <p:cNvPr id="3" name="Text 1"/>
          <p:cNvSpPr/>
          <p:nvPr/>
        </p:nvSpPr>
        <p:spPr>
          <a:xfrm>
            <a:off x="267519" y="2417638"/>
            <a:ext cx="8380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MOCA עוקבת אחרי כל השוק פעמיים ביום ושולחת התראה תוך דקות מהרגע שמתחרה זז — לפני שזה משפיע על העסק שלך.</a:t>
            </a:r>
            <a:endParaRPr lang="he-IL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803922"/>
            <a:ext cx="8151763" cy="816843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5" name="Shape 3"/>
          <p:cNvSpPr/>
          <p:nvPr/>
        </p:nvSpPr>
        <p:spPr>
          <a:xfrm>
            <a:off x="5930652" y="2803922"/>
            <a:ext cx="2717229" cy="816843"/>
          </a:xfrm>
          <a:prstGeom prst="rect">
            <a:avLst/>
          </a:prstGeom>
          <a:solidFill>
            <a:srgbClr val="373433"/>
          </a:solidFill>
          <a:ln/>
        </p:spPr>
      </p:sp>
      <p:sp>
        <p:nvSpPr>
          <p:cNvPr id="6" name="Text 4"/>
          <p:cNvSpPr/>
          <p:nvPr/>
        </p:nvSpPr>
        <p:spPr>
          <a:xfrm>
            <a:off x="6734101" y="29456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10 מפעילים סלולריים</a:t>
            </a:r>
            <a:endParaRPr lang="he-IL" sz="1350" dirty="0"/>
          </a:p>
        </p:txBody>
      </p:sp>
      <p:sp>
        <p:nvSpPr>
          <p:cNvPr id="7" name="Text 5"/>
          <p:cNvSpPr/>
          <p:nvPr/>
        </p:nvSpPr>
        <p:spPr>
          <a:xfrm>
            <a:off x="6072411" y="3252192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כל השוק הישראלי, ללא יוצא מן הכלל</a:t>
            </a:r>
            <a:endParaRPr lang="he-IL" sz="1100" dirty="0"/>
          </a:p>
        </p:txBody>
      </p:sp>
      <p:sp>
        <p:nvSpPr>
          <p:cNvPr id="8" name="Shape 6"/>
          <p:cNvSpPr/>
          <p:nvPr/>
        </p:nvSpPr>
        <p:spPr>
          <a:xfrm>
            <a:off x="3213422" y="2803922"/>
            <a:ext cx="2717229" cy="816843"/>
          </a:xfrm>
          <a:prstGeom prst="rect">
            <a:avLst/>
          </a:prstGeom>
          <a:solidFill>
            <a:srgbClr val="373433"/>
          </a:solidFill>
          <a:ln/>
        </p:spPr>
      </p:sp>
      <p:sp>
        <p:nvSpPr>
          <p:cNvPr id="9" name="Shape 7"/>
          <p:cNvSpPr/>
          <p:nvPr/>
        </p:nvSpPr>
        <p:spPr>
          <a:xfrm>
            <a:off x="5911602" y="2803922"/>
            <a:ext cx="19050" cy="816843"/>
          </a:xfrm>
          <a:prstGeom prst="roundRect">
            <a:avLst>
              <a:gd name="adj" fmla="val 111628"/>
            </a:avLst>
          </a:prstGeom>
          <a:solidFill>
            <a:srgbClr val="504D4C"/>
          </a:solidFill>
          <a:ln/>
        </p:spPr>
      </p:sp>
      <p:sp>
        <p:nvSpPr>
          <p:cNvPr id="10" name="Text 8"/>
          <p:cNvSpPr/>
          <p:nvPr/>
        </p:nvSpPr>
        <p:spPr>
          <a:xfrm>
            <a:off x="3985096" y="2945681"/>
            <a:ext cx="18037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20+ ספקי eSIM גלובליים</a:t>
            </a:r>
            <a:endParaRPr lang="he-IL" sz="1350" dirty="0"/>
          </a:p>
        </p:txBody>
      </p:sp>
      <p:sp>
        <p:nvSpPr>
          <p:cNvPr id="11" name="Text 9"/>
          <p:cNvSpPr/>
          <p:nvPr/>
        </p:nvSpPr>
        <p:spPr>
          <a:xfrm>
            <a:off x="3355181" y="3252192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נדידה, תוכן ושוק אפור תחת מעקב</a:t>
            </a:r>
            <a:endParaRPr lang="he-IL" sz="1100" dirty="0"/>
          </a:p>
        </p:txBody>
      </p:sp>
      <p:sp>
        <p:nvSpPr>
          <p:cNvPr id="12" name="Shape 10"/>
          <p:cNvSpPr/>
          <p:nvPr/>
        </p:nvSpPr>
        <p:spPr>
          <a:xfrm>
            <a:off x="496193" y="2803922"/>
            <a:ext cx="2717229" cy="816843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13" name="Shape 11"/>
          <p:cNvSpPr/>
          <p:nvPr/>
        </p:nvSpPr>
        <p:spPr>
          <a:xfrm>
            <a:off x="3194372" y="2803922"/>
            <a:ext cx="19050" cy="816843"/>
          </a:xfrm>
          <a:prstGeom prst="roundRect">
            <a:avLst>
              <a:gd name="adj" fmla="val 111628"/>
            </a:avLst>
          </a:prstGeom>
          <a:solidFill>
            <a:srgbClr val="504D4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9642" y="29456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הכל במקום אחד</a:t>
            </a:r>
            <a:endParaRPr lang="he-IL" sz="1350" dirty="0"/>
          </a:p>
        </p:txBody>
      </p:sp>
      <p:sp>
        <p:nvSpPr>
          <p:cNvPr id="15" name="Text 13"/>
          <p:cNvSpPr/>
          <p:nvPr/>
        </p:nvSpPr>
        <p:spPr>
          <a:xfrm>
            <a:off x="637952" y="3252192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מחירים, באנרים, חדשות, קמפיינים</a:t>
            </a:r>
            <a:endParaRPr lang="he-IL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6563" y="103108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מה MOCA עושה</a:t>
            </a:r>
            <a:endParaRPr lang="he-IL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64364" y="1757586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15162" y="18062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מעקב מחירים חי</a:t>
            </a:r>
            <a:endParaRPr lang="he-IL" sz="1350" dirty="0"/>
          </a:p>
        </p:txBody>
      </p:sp>
      <p:sp>
        <p:nvSpPr>
          <p:cNvPr id="5" name="Text 2"/>
          <p:cNvSpPr/>
          <p:nvPr/>
        </p:nvSpPr>
        <p:spPr>
          <a:xfrm>
            <a:off x="6048747" y="2112764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כל חבילה אצל כל מתחרה. שינוי מסומן 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100" b="1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אדום / ירוק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מיד ברגע שקורה.</a:t>
            </a:r>
            <a:endParaRPr lang="he-IL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50" y="1757586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38848" y="18062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ניטור קמפיינים</a:t>
            </a:r>
            <a:endParaRPr lang="he-IL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112764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צילום יומי של עמודי הבית וה-e-stores. ראה מה המתחרים מקדמים היום.</a:t>
            </a:r>
            <a:endParaRPr lang="he-IL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1735" y="1757586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2533" y="18062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התראות בזמן אמת</a:t>
            </a:r>
            <a:endParaRPr lang="he-IL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2112764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וואטסאפ / טלגרם / מייל / Web Push עם דדופ חכם — בלי ספאם, רק מה שחשוב.</a:t>
            </a:r>
            <a:endParaRPr lang="he-IL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88050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38848" y="312539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מכונת זמן</a:t>
            </a:r>
            <a:endParaRPr lang="he-IL" sz="1350" dirty="0"/>
          </a:p>
        </p:txBody>
      </p:sp>
      <p:sp>
        <p:nvSpPr>
          <p:cNvPr id="14" name="Text 8"/>
          <p:cNvSpPr/>
          <p:nvPr/>
        </p:nvSpPr>
        <p:spPr>
          <a:xfrm>
            <a:off x="3272433" y="3431902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בחר מתחרה ותאריך — וראה בדיוק איך נראו האתר והמחירים באותו יום.</a:t>
            </a:r>
            <a:endParaRPr lang="he-IL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11735" y="307672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2533" y="312539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ניתוח AI</a:t>
            </a:r>
            <a:endParaRPr lang="he-IL" sz="1350" dirty="0"/>
          </a:p>
        </p:txBody>
      </p:sp>
      <p:sp>
        <p:nvSpPr>
          <p:cNvPr id="17" name="Text 10"/>
          <p:cNvSpPr/>
          <p:nvPr/>
        </p:nvSpPr>
        <p:spPr>
          <a:xfrm>
            <a:off x="496119" y="3431902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צ'אט, מטריצת מיצוב תחרותי, מגמות מחיר — תובנות אסטרטגיות בלחיצה אחת.</a:t>
            </a:r>
            <a:endParaRPr lang="he-IL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55355" y="936278"/>
            <a:ext cx="463532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הזווית האסטרטגית: eSIM ונדידה</a:t>
            </a:r>
            <a:endParaRPr lang="he-IL" sz="2750" dirty="0"/>
          </a:p>
        </p:txBody>
      </p:sp>
      <p:sp>
        <p:nvSpPr>
          <p:cNvPr id="4" name="Text 1"/>
          <p:cNvSpPr/>
          <p:nvPr/>
        </p:nvSpPr>
        <p:spPr>
          <a:xfrm>
            <a:off x="3467919" y="1591866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הכנסות הנדידה שלך נשחקות — ואתה לא רואה את מי שאוכל אותן.</a:t>
            </a:r>
            <a:endParaRPr lang="he-IL" sz="1100" dirty="0"/>
          </a:p>
        </p:txBody>
      </p:sp>
      <p:sp>
        <p:nvSpPr>
          <p:cNvPr id="5" name="Shape 2"/>
          <p:cNvSpPr/>
          <p:nvPr/>
        </p:nvSpPr>
        <p:spPr>
          <a:xfrm>
            <a:off x="6357417" y="1978149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373433"/>
          </a:solidFill>
          <a:ln/>
        </p:spPr>
      </p:sp>
      <p:sp>
        <p:nvSpPr>
          <p:cNvPr id="6" name="Text 3"/>
          <p:cNvSpPr/>
          <p:nvPr/>
        </p:nvSpPr>
        <p:spPr>
          <a:xfrm>
            <a:off x="6734101" y="21199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התחרות הנסתרת</a:t>
            </a:r>
            <a:endParaRPr lang="he-IL" sz="1350" dirty="0"/>
          </a:p>
        </p:txBody>
      </p:sp>
      <p:sp>
        <p:nvSpPr>
          <p:cNvPr id="7" name="Text 4"/>
          <p:cNvSpPr/>
          <p:nvPr/>
        </p:nvSpPr>
        <p:spPr>
          <a:xfrm>
            <a:off x="6499175" y="2426419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Airalo, Holafly, Saily, Orbit, Maya ועוד — מתמחרים מתחתיך, מדינה אחר מדינה, בשקט.</a:t>
            </a:r>
            <a:endParaRPr lang="he-IL" sz="1100" dirty="0"/>
          </a:p>
        </p:txBody>
      </p:sp>
      <p:sp>
        <p:nvSpPr>
          <p:cNvPr id="8" name="Shape 5"/>
          <p:cNvSpPr/>
          <p:nvPr/>
        </p:nvSpPr>
        <p:spPr>
          <a:xfrm>
            <a:off x="3925119" y="1978149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373433"/>
          </a:solidFill>
          <a:ln/>
        </p:spPr>
      </p:sp>
      <p:sp>
        <p:nvSpPr>
          <p:cNvPr id="9" name="Text 6"/>
          <p:cNvSpPr/>
          <p:nvPr/>
        </p:nvSpPr>
        <p:spPr>
          <a:xfrm>
            <a:off x="4301877" y="21199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הנראות שחסרה</a:t>
            </a:r>
            <a:endParaRPr lang="he-IL" sz="1350" dirty="0"/>
          </a:p>
        </p:txBody>
      </p:sp>
      <p:sp>
        <p:nvSpPr>
          <p:cNvPr id="10" name="Text 7"/>
          <p:cNvSpPr/>
          <p:nvPr/>
        </p:nvSpPr>
        <p:spPr>
          <a:xfrm>
            <a:off x="4066877" y="2426419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MOCA הוא המקום היחיד שבו תראה את התמחור שלהם מול שלך — בזמן אמת, על מאות מסלולים.</a:t>
            </a:r>
            <a:endParaRPr lang="he-IL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390379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12" name="Text 9"/>
          <p:cNvSpPr/>
          <p:nvPr/>
        </p:nvSpPr>
        <p:spPr>
          <a:xfrm>
            <a:off x="6734101" y="35321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הגנה על שורת הכנסה</a:t>
            </a:r>
            <a:endParaRPr lang="he-IL" sz="1350" dirty="0"/>
          </a:p>
        </p:txBody>
      </p:sp>
      <p:sp>
        <p:nvSpPr>
          <p:cNvPr id="13" name="Text 10"/>
          <p:cNvSpPr/>
          <p:nvPr/>
        </p:nvSpPr>
        <p:spPr>
          <a:xfrm>
            <a:off x="4066877" y="3838649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נדידה היא הסעיף הכבד. זיהוי תת-תמחור בזמן = הגנה אקטיבית על הרווח.</a:t>
            </a:r>
            <a:endParaRPr lang="he-IL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1570" y="1048122"/>
            <a:ext cx="479911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שלושה מסכים ששווים אלף שקפים</a:t>
            </a:r>
            <a:endParaRPr lang="he-IL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6517" y="1774627"/>
            <a:ext cx="1871365" cy="11565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75859" y="31083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מכונת הזמן</a:t>
            </a:r>
            <a:endParaRPr lang="he-IL" sz="1350" dirty="0"/>
          </a:p>
        </p:txBody>
      </p:sp>
      <p:sp>
        <p:nvSpPr>
          <p:cNvPr id="5" name="Text 2"/>
          <p:cNvSpPr/>
          <p:nvPr/>
        </p:nvSpPr>
        <p:spPr>
          <a:xfrm>
            <a:off x="6048747" y="341486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בחר מתחרה ותאריך מלפני שלושה שבועות — וראה את האתר והחבילות כפי שהיו, בדיוק.</a:t>
            </a:r>
            <a:endParaRPr lang="he-IL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202" y="1774627"/>
            <a:ext cx="1871365" cy="11565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99545" y="31083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קיר הבאנרים</a:t>
            </a:r>
            <a:endParaRPr lang="he-IL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41486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צילומי כל המתחרים בתווית "היום / אתמול / לפני N ימים". הקריאייטיב שלהם, לנגד עיניך.</a:t>
            </a:r>
            <a:endParaRPr lang="he-IL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88" y="1774627"/>
            <a:ext cx="1871365" cy="11565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3231" y="31083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התראה חיה</a:t>
            </a:r>
            <a:endParaRPr lang="he-IL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414861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שינוי מחיר נתפס תוך דקות, מסומן אדום/ירוק, נשלח לוואטסאפ — בלי שאף אחד ישב מול מסך.</a:t>
            </a:r>
            <a:endParaRPr lang="he-IL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43388" y="479301"/>
            <a:ext cx="3947294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20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למה MOCA ולא אקסל / חברת מחקר</a:t>
            </a:r>
            <a:endParaRPr lang="he-IL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1062" y="1585392"/>
            <a:ext cx="3905845" cy="19548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45773" y="2480636"/>
            <a:ext cx="733560" cy="109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he-IL" altLang="en-US" sz="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דיוק ויציבות</a:t>
            </a:r>
            <a:endParaRPr lang="he-IL" sz="650" dirty="0"/>
          </a:p>
        </p:txBody>
      </p:sp>
      <p:sp>
        <p:nvSpPr>
          <p:cNvPr id="5" name="Text 2"/>
          <p:cNvSpPr/>
          <p:nvPr/>
        </p:nvSpPr>
        <p:spPr>
          <a:xfrm>
            <a:off x="5604166" y="3373808"/>
            <a:ext cx="877930" cy="109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he-IL" altLang="en-US" sz="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ארכיון וזמינות</a:t>
            </a:r>
            <a:endParaRPr lang="he-IL" sz="650" dirty="0"/>
          </a:p>
        </p:txBody>
      </p:sp>
      <p:sp>
        <p:nvSpPr>
          <p:cNvPr id="6" name="Text 3"/>
          <p:cNvSpPr/>
          <p:nvPr/>
        </p:nvSpPr>
        <p:spPr>
          <a:xfrm>
            <a:off x="4112539" y="2480636"/>
            <a:ext cx="733559" cy="109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he-IL" altLang="en-US" sz="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היקף מידע</a:t>
            </a:r>
            <a:endParaRPr lang="he-IL" sz="650" dirty="0"/>
          </a:p>
        </p:txBody>
      </p:sp>
      <p:sp>
        <p:nvSpPr>
          <p:cNvPr id="7" name="Text 4"/>
          <p:cNvSpPr/>
          <p:nvPr/>
        </p:nvSpPr>
        <p:spPr>
          <a:xfrm>
            <a:off x="5606361" y="1665625"/>
            <a:ext cx="877930" cy="109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he-IL" altLang="en-US" sz="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תגובות מהירות</a:t>
            </a:r>
            <a:endParaRPr lang="he-IL" sz="650" dirty="0"/>
          </a:p>
        </p:txBody>
      </p:sp>
      <p:sp>
        <p:nvSpPr>
          <p:cNvPr id="8" name="Text 5"/>
          <p:cNvSpPr/>
          <p:nvPr/>
        </p:nvSpPr>
        <p:spPr>
          <a:xfrm>
            <a:off x="6149336" y="2950329"/>
            <a:ext cx="753069" cy="153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he-IL" alt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MOCA — היקף מלא וארכיון</a:t>
            </a:r>
            <a:endParaRPr lang="he-IL" sz="550" dirty="0"/>
          </a:p>
        </p:txBody>
      </p:sp>
      <p:sp>
        <p:nvSpPr>
          <p:cNvPr id="9" name="Text 6"/>
          <p:cNvSpPr/>
          <p:nvPr/>
        </p:nvSpPr>
        <p:spPr>
          <a:xfrm>
            <a:off x="5115330" y="2954231"/>
            <a:ext cx="753069" cy="153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91000"/>
              </a:lnSpc>
              <a:buNone/>
            </a:pPr>
            <a:r>
              <a:rPr lang="he-IL" alt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ידני — מחירים בלבד, ללא היסטוריה</a:t>
            </a:r>
            <a:endParaRPr lang="he-IL" sz="550" dirty="0"/>
          </a:p>
        </p:txBody>
      </p:sp>
      <p:sp>
        <p:nvSpPr>
          <p:cNvPr id="10" name="Text 7"/>
          <p:cNvSpPr/>
          <p:nvPr/>
        </p:nvSpPr>
        <p:spPr>
          <a:xfrm>
            <a:off x="5115330" y="2270787"/>
            <a:ext cx="753069" cy="7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1000"/>
              </a:lnSpc>
              <a:buNone/>
            </a:pPr>
            <a:r>
              <a:rPr lang="he-IL" alt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MOCA — אוטומטי, מהיר</a:t>
            </a:r>
            <a:endParaRPr lang="he-IL" sz="550" dirty="0"/>
          </a:p>
        </p:txBody>
      </p:sp>
      <p:sp>
        <p:nvSpPr>
          <p:cNvPr id="11" name="Text 8"/>
          <p:cNvSpPr/>
          <p:nvPr/>
        </p:nvSpPr>
        <p:spPr>
          <a:xfrm>
            <a:off x="6172748" y="2270787"/>
            <a:ext cx="753069" cy="7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91000"/>
              </a:lnSpc>
              <a:buNone/>
            </a:pPr>
            <a:r>
              <a:rPr lang="he-IL" alt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ידני — איטי וחלקי</a:t>
            </a:r>
            <a:endParaRPr lang="he-IL" sz="5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430" y="1020812"/>
            <a:ext cx="2684487" cy="7845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69257" y="1313408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327621" y="1141363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תדירות</a:t>
            </a:r>
            <a:endParaRPr lang="he-IL" sz="1000" dirty="0"/>
          </a:p>
        </p:txBody>
      </p:sp>
      <p:sp>
        <p:nvSpPr>
          <p:cNvPr id="15" name="Text 11"/>
          <p:cNvSpPr/>
          <p:nvPr/>
        </p:nvSpPr>
        <p:spPr>
          <a:xfrm>
            <a:off x="611981" y="1387153"/>
            <a:ext cx="204467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7000"/>
              </a:lnSpc>
              <a:buNone/>
            </a:pPr>
            <a:r>
              <a:rPr lang="he-IL" alt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ידני: מתי שמתפנים → MOCA: פעמיים ביום, אוטומטי</a:t>
            </a:r>
            <a:endParaRPr lang="he-IL" sz="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430" y="1885057"/>
            <a:ext cx="2684487" cy="7845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869257" y="2177653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327621" y="200560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היקף</a:t>
            </a:r>
            <a:endParaRPr lang="he-IL" sz="1000" dirty="0"/>
          </a:p>
        </p:txBody>
      </p:sp>
      <p:sp>
        <p:nvSpPr>
          <p:cNvPr id="19" name="Text 14"/>
          <p:cNvSpPr/>
          <p:nvPr/>
        </p:nvSpPr>
        <p:spPr>
          <a:xfrm>
            <a:off x="611981" y="2251397"/>
            <a:ext cx="204467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7000"/>
              </a:lnSpc>
              <a:buNone/>
            </a:pPr>
            <a:r>
              <a:rPr lang="he-IL" alt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ידני: מחירים בלבד → MOCA: מחיר + קריאייטיב + חדשות + eSIM</a:t>
            </a:r>
            <a:endParaRPr lang="he-IL" sz="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430" y="2749302"/>
            <a:ext cx="2684487" cy="6379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869257" y="2968600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327621" y="2869853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מהירות תגובה</a:t>
            </a:r>
            <a:endParaRPr lang="he-IL" sz="1000" dirty="0"/>
          </a:p>
        </p:txBody>
      </p:sp>
      <p:sp>
        <p:nvSpPr>
          <p:cNvPr id="23" name="Text 17"/>
          <p:cNvSpPr/>
          <p:nvPr/>
        </p:nvSpPr>
        <p:spPr>
          <a:xfrm>
            <a:off x="611981" y="3115642"/>
            <a:ext cx="204467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17000"/>
              </a:lnSpc>
              <a:buNone/>
            </a:pPr>
            <a:r>
              <a:rPr lang="he-IL" alt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ידני: שעות עד יום → MOCA: דקות</a:t>
            </a:r>
            <a:endParaRPr lang="he-IL" sz="8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1430" y="3466951"/>
            <a:ext cx="2684487" cy="63795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869257" y="3686249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327621" y="3587502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היסטוריה</a:t>
            </a:r>
            <a:endParaRPr lang="he-IL" sz="1000" dirty="0"/>
          </a:p>
        </p:txBody>
      </p:sp>
      <p:sp>
        <p:nvSpPr>
          <p:cNvPr id="27" name="Text 20"/>
          <p:cNvSpPr/>
          <p:nvPr/>
        </p:nvSpPr>
        <p:spPr>
          <a:xfrm>
            <a:off x="611981" y="3833292"/>
            <a:ext cx="204467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17000"/>
              </a:lnSpc>
              <a:buNone/>
            </a:pPr>
            <a:r>
              <a:rPr lang="he-IL" alt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ידני: אין → MOCA: ארכיון מלא + מכונת זמן</a:t>
            </a:r>
            <a:endParaRPr lang="he-IL" sz="800" dirty="0"/>
          </a:p>
        </p:txBody>
      </p:sp>
      <p:sp>
        <p:nvSpPr>
          <p:cNvPr id="28" name="Shape 21"/>
          <p:cNvSpPr/>
          <p:nvPr/>
        </p:nvSpPr>
        <p:spPr>
          <a:xfrm>
            <a:off x="496119" y="4284241"/>
            <a:ext cx="8151763" cy="379958"/>
          </a:xfrm>
          <a:prstGeom prst="roundRect">
            <a:avLst>
              <a:gd name="adj" fmla="val 4198"/>
            </a:avLst>
          </a:prstGeom>
          <a:solidFill>
            <a:srgbClr val="33221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8715" y="4428827"/>
            <a:ext cx="132904" cy="10626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45182" y="4390504"/>
            <a:ext cx="770007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17000"/>
              </a:lnSpc>
              <a:buNone/>
            </a:pPr>
            <a:r>
              <a:rPr lang="he-IL" altLang="en-US" sz="80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חברת מחקר נותנת תמונה של אתמול. MOCA נותנת את היום — וגם את כל ההיסטוריה.</a:t>
            </a:r>
            <a:endParaRPr lang="he-IL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4167"/>
            <a:ext cx="453174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he-IL" alt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ROI: כמה שווה לדעת מוקדם</a:t>
            </a:r>
            <a:endParaRPr lang="he-IL" sz="2750" dirty="0"/>
          </a:p>
        </p:txBody>
      </p:sp>
      <p:sp>
        <p:nvSpPr>
          <p:cNvPr id="3" name="Shape 1"/>
          <p:cNvSpPr/>
          <p:nvPr/>
        </p:nvSpPr>
        <p:spPr>
          <a:xfrm>
            <a:off x="6025158" y="1800671"/>
            <a:ext cx="2622724" cy="1279996"/>
          </a:xfrm>
          <a:prstGeom prst="roundRect">
            <a:avLst>
              <a:gd name="adj" fmla="val 1661"/>
            </a:avLst>
          </a:prstGeom>
          <a:solidFill>
            <a:srgbClr val="373433"/>
          </a:solidFill>
          <a:ln/>
        </p:spPr>
      </p:sp>
      <p:sp>
        <p:nvSpPr>
          <p:cNvPr id="4" name="Text 2"/>
          <p:cNvSpPr/>
          <p:nvPr/>
        </p:nvSpPr>
        <p:spPr>
          <a:xfrm>
            <a:off x="6734101" y="1942430"/>
            <a:ext cx="17720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⚡</a:t>
            </a:r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מהירות תגובה</a:t>
            </a:r>
            <a:endParaRPr lang="he-IL" sz="1350" dirty="0"/>
          </a:p>
        </p:txBody>
      </p:sp>
      <p:sp>
        <p:nvSpPr>
          <p:cNvPr id="5" name="Text 3"/>
          <p:cNvSpPr/>
          <p:nvPr/>
        </p:nvSpPr>
        <p:spPr>
          <a:xfrm>
            <a:off x="6166917" y="2258467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מ-24 שעות ל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1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דקות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 כל יום של פיגור במלחמת מחירים = מנויים שמתניידים למתחרה.</a:t>
            </a:r>
            <a:endParaRPr lang="he-IL" sz="1100" dirty="0"/>
          </a:p>
        </p:txBody>
      </p:sp>
      <p:sp>
        <p:nvSpPr>
          <p:cNvPr id="6" name="Shape 4"/>
          <p:cNvSpPr/>
          <p:nvPr/>
        </p:nvSpPr>
        <p:spPr>
          <a:xfrm>
            <a:off x="3260675" y="1800671"/>
            <a:ext cx="2622724" cy="1279996"/>
          </a:xfrm>
          <a:prstGeom prst="roundRect">
            <a:avLst>
              <a:gd name="adj" fmla="val 1661"/>
            </a:avLst>
          </a:prstGeom>
          <a:solidFill>
            <a:srgbClr val="373433"/>
          </a:solidFill>
          <a:ln/>
        </p:spPr>
      </p:sp>
      <p:sp>
        <p:nvSpPr>
          <p:cNvPr id="7" name="Text 5"/>
          <p:cNvSpPr/>
          <p:nvPr/>
        </p:nvSpPr>
        <p:spPr>
          <a:xfrm>
            <a:off x="3969618" y="1942430"/>
            <a:ext cx="17720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🛡️</a:t>
            </a:r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הגנת הכנסות נדידה</a:t>
            </a:r>
            <a:endParaRPr lang="he-IL" sz="1350" dirty="0"/>
          </a:p>
        </p:txBody>
      </p:sp>
      <p:sp>
        <p:nvSpPr>
          <p:cNvPr id="8" name="Text 6"/>
          <p:cNvSpPr/>
          <p:nvPr/>
        </p:nvSpPr>
        <p:spPr>
          <a:xfrm>
            <a:off x="3402434" y="2258467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זיהוי תת-תמחור eSIM שומר על שורת הכנסה שלמה — לרוב הסעיף הכי כבד בתמהיל.</a:t>
            </a:r>
            <a:endParaRPr lang="he-IL" sz="1100" dirty="0"/>
          </a:p>
        </p:txBody>
      </p:sp>
      <p:sp>
        <p:nvSpPr>
          <p:cNvPr id="9" name="Shape 7"/>
          <p:cNvSpPr/>
          <p:nvPr/>
        </p:nvSpPr>
        <p:spPr>
          <a:xfrm>
            <a:off x="496193" y="1800671"/>
            <a:ext cx="2622724" cy="1279996"/>
          </a:xfrm>
          <a:prstGeom prst="roundRect">
            <a:avLst>
              <a:gd name="adj" fmla="val 1661"/>
            </a:avLst>
          </a:prstGeom>
          <a:solidFill>
            <a:srgbClr val="373433"/>
          </a:solidFill>
          <a:ln/>
        </p:spPr>
      </p:sp>
      <p:sp>
        <p:nvSpPr>
          <p:cNvPr id="10" name="Text 8"/>
          <p:cNvSpPr/>
          <p:nvPr/>
        </p:nvSpPr>
        <p:spPr>
          <a:xfrm>
            <a:off x="1205136" y="1942430"/>
            <a:ext cx="17720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💼</a:t>
            </a:r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חיסכון תפעולי</a:t>
            </a:r>
            <a:endParaRPr lang="he-IL" sz="1350" dirty="0"/>
          </a:p>
        </p:txBody>
      </p:sp>
      <p:sp>
        <p:nvSpPr>
          <p:cNvPr id="11" name="Text 9"/>
          <p:cNvSpPr/>
          <p:nvPr/>
        </p:nvSpPr>
        <p:spPr>
          <a:xfrm>
            <a:off x="637952" y="2258467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מחליף שעות עבודה ידנית יומית של מעקב על 10+ מתחרים — משאבים שחוזרים לעשות ערך.</a:t>
            </a:r>
            <a:endParaRPr lang="he-IL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240137"/>
            <a:ext cx="8151763" cy="829196"/>
          </a:xfrm>
          <a:prstGeom prst="roundRect">
            <a:avLst>
              <a:gd name="adj" fmla="val 2565"/>
            </a:avLst>
          </a:prstGeom>
          <a:solidFill>
            <a:srgbClr val="183A13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8943" y="3445669"/>
            <a:ext cx="177180" cy="1417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37877" y="3417317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חישוב שמרני: תגובה מהירה שמונעת נטישה של 20 מנויים/חודש ב-ARPU של 60 ₪ = 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כ-14,400 ₪ נשמרים בשנה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מעבר לעלות המערכת. 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אירוע תמחור אחד שתפוס בזמן מחזיר את ההשקעה.</a:t>
            </a:r>
            <a:endParaRPr lang="he-IL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6563" y="62359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תמחור ופיילוט</a:t>
            </a:r>
            <a:endParaRPr lang="he-IL" sz="2750" dirty="0"/>
          </a:p>
        </p:txBody>
      </p:sp>
      <p:sp>
        <p:nvSpPr>
          <p:cNvPr id="3" name="Text 1"/>
          <p:cNvSpPr/>
          <p:nvPr/>
        </p:nvSpPr>
        <p:spPr>
          <a:xfrm>
            <a:off x="267519" y="1350094"/>
            <a:ext cx="8380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מנוי חודשי מדורג — כולל פיילוט שבועיים ללא התחייבות בכל חבילה.</a:t>
            </a:r>
            <a:endParaRPr lang="he-IL" sz="1100" dirty="0"/>
          </a:p>
        </p:txBody>
      </p:sp>
      <p:sp>
        <p:nvSpPr>
          <p:cNvPr id="4" name="Shape 2"/>
          <p:cNvSpPr/>
          <p:nvPr/>
        </p:nvSpPr>
        <p:spPr>
          <a:xfrm>
            <a:off x="6161559" y="1895847"/>
            <a:ext cx="2486323" cy="873547"/>
          </a:xfrm>
          <a:prstGeom prst="roundRect">
            <a:avLst>
              <a:gd name="adj" fmla="val 2434"/>
            </a:avLst>
          </a:prstGeom>
          <a:solidFill>
            <a:srgbClr val="373433"/>
          </a:solidFill>
          <a:ln/>
        </p:spPr>
      </p:sp>
      <p:sp>
        <p:nvSpPr>
          <p:cNvPr id="5" name="Text 3"/>
          <p:cNvSpPr/>
          <p:nvPr/>
        </p:nvSpPr>
        <p:spPr>
          <a:xfrm>
            <a:off x="6734101" y="203760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בסיס</a:t>
            </a:r>
            <a:endParaRPr lang="he-IL" sz="1350" dirty="0"/>
          </a:p>
        </p:txBody>
      </p:sp>
      <p:sp>
        <p:nvSpPr>
          <p:cNvPr id="6" name="Text 4"/>
          <p:cNvSpPr/>
          <p:nvPr/>
        </p:nvSpPr>
        <p:spPr>
          <a:xfrm>
            <a:off x="6303318" y="2400821"/>
            <a:ext cx="22028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b="1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5,000 ₪ / חודש</a:t>
            </a:r>
            <a:endParaRPr lang="he-IL" sz="1100" dirty="0"/>
          </a:p>
        </p:txBody>
      </p:sp>
      <p:sp>
        <p:nvSpPr>
          <p:cNvPr id="7" name="Text 5"/>
          <p:cNvSpPr/>
          <p:nvPr/>
        </p:nvSpPr>
        <p:spPr>
          <a:xfrm>
            <a:off x="6161559" y="2928863"/>
            <a:ext cx="248632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lnSpc>
                <a:spcPct val="133000"/>
              </a:lnSpc>
              <a:buSzPct val="100000"/>
              <a:buChar char="•"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עד 3 מתחרים</a:t>
            </a:r>
            <a:endParaRPr lang="he-IL" sz="1100" dirty="0"/>
          </a:p>
          <a:p>
            <a:pPr rtl="1" algn="r" marL="342900" indent="-342900">
              <a:lnSpc>
                <a:spcPct val="133000"/>
              </a:lnSpc>
              <a:buSzPct val="100000"/>
              <a:buChar char="•"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מעקב מחירים יומי</a:t>
            </a:r>
            <a:endParaRPr lang="he-IL" sz="1100" dirty="0"/>
          </a:p>
          <a:p>
            <a:pPr rtl="1" algn="r" marL="342900" indent="-342900">
              <a:lnSpc>
                <a:spcPct val="133000"/>
              </a:lnSpc>
              <a:buSzPct val="100000"/>
              <a:buChar char="•"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התראות לוואטסאפ</a:t>
            </a:r>
            <a:endParaRPr lang="he-IL" sz="1100" dirty="0"/>
          </a:p>
        </p:txBody>
      </p:sp>
      <p:sp>
        <p:nvSpPr>
          <p:cNvPr id="8" name="Shape 6"/>
          <p:cNvSpPr/>
          <p:nvPr/>
        </p:nvSpPr>
        <p:spPr>
          <a:xfrm>
            <a:off x="3222501" y="1736378"/>
            <a:ext cx="2690515" cy="2021607"/>
          </a:xfrm>
          <a:prstGeom prst="roundRect">
            <a:avLst>
              <a:gd name="adj" fmla="val 1052"/>
            </a:avLst>
          </a:prstGeom>
          <a:solidFill>
            <a:srgbClr val="C49F8C"/>
          </a:solidFill>
          <a:ln/>
        </p:spPr>
      </p:sp>
      <p:sp>
        <p:nvSpPr>
          <p:cNvPr id="9" name="Shape 7"/>
          <p:cNvSpPr/>
          <p:nvPr/>
        </p:nvSpPr>
        <p:spPr>
          <a:xfrm>
            <a:off x="3364260" y="1895847"/>
            <a:ext cx="2406997" cy="873547"/>
          </a:xfrm>
          <a:prstGeom prst="roundRect">
            <a:avLst>
              <a:gd name="adj" fmla="val 2434"/>
            </a:avLst>
          </a:prstGeom>
          <a:solidFill>
            <a:srgbClr val="373433"/>
          </a:solidFill>
          <a:ln/>
        </p:spPr>
      </p:sp>
      <p:sp>
        <p:nvSpPr>
          <p:cNvPr id="10" name="Text 8"/>
          <p:cNvSpPr/>
          <p:nvPr/>
        </p:nvSpPr>
        <p:spPr>
          <a:xfrm>
            <a:off x="3857476" y="203760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מקצועי ✦ מומלץ</a:t>
            </a:r>
            <a:endParaRPr lang="he-IL" sz="1350" dirty="0"/>
          </a:p>
        </p:txBody>
      </p:sp>
      <p:sp>
        <p:nvSpPr>
          <p:cNvPr id="11" name="Text 9"/>
          <p:cNvSpPr/>
          <p:nvPr/>
        </p:nvSpPr>
        <p:spPr>
          <a:xfrm>
            <a:off x="3506019" y="2400821"/>
            <a:ext cx="212348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8,500 ₪ / חודש</a:t>
            </a:r>
            <a:endParaRPr lang="he-IL" sz="1100" dirty="0"/>
          </a:p>
        </p:txBody>
      </p:sp>
      <p:sp>
        <p:nvSpPr>
          <p:cNvPr id="12" name="Text 10"/>
          <p:cNvSpPr/>
          <p:nvPr/>
        </p:nvSpPr>
        <p:spPr>
          <a:xfrm>
            <a:off x="3364260" y="2928863"/>
            <a:ext cx="2406997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lnSpc>
                <a:spcPct val="133000"/>
              </a:lnSpc>
              <a:buSzPct val="100000"/>
              <a:buChar char="•"/>
            </a:pPr>
            <a:r>
              <a:rPr lang="he-IL" alt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כל 10 המפעילים</a:t>
            </a:r>
            <a:endParaRPr lang="he-IL" sz="1100" dirty="0"/>
          </a:p>
          <a:p>
            <a:pPr rtl="1" algn="r" marL="342900" indent="-342900">
              <a:lnSpc>
                <a:spcPct val="133000"/>
              </a:lnSpc>
              <a:buSzPct val="100000"/>
              <a:buChar char="•"/>
            </a:pPr>
            <a:r>
              <a:rPr lang="he-IL" alt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ניטור באנרים + מכונת זמן</a:t>
            </a:r>
            <a:endParaRPr lang="he-IL" sz="1100" dirty="0"/>
          </a:p>
          <a:p>
            <a:pPr rtl="1" algn="r" marL="342900" indent="-342900">
              <a:lnSpc>
                <a:spcPct val="133000"/>
              </a:lnSpc>
              <a:buSzPct val="100000"/>
              <a:buChar char="•"/>
            </a:pPr>
            <a:r>
              <a:rPr lang="he-IL" alt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תובנות AI + התראות בזמן אמת</a:t>
            </a:r>
            <a:endParaRPr lang="he-IL" sz="1100" dirty="0"/>
          </a:p>
        </p:txBody>
      </p:sp>
      <p:sp>
        <p:nvSpPr>
          <p:cNvPr id="13" name="Shape 11"/>
          <p:cNvSpPr/>
          <p:nvPr/>
        </p:nvSpPr>
        <p:spPr>
          <a:xfrm>
            <a:off x="487635" y="1895847"/>
            <a:ext cx="2486323" cy="873547"/>
          </a:xfrm>
          <a:prstGeom prst="roundRect">
            <a:avLst>
              <a:gd name="adj" fmla="val 2434"/>
            </a:avLst>
          </a:prstGeom>
          <a:solidFill>
            <a:srgbClr val="373433"/>
          </a:solidFill>
          <a:ln/>
        </p:spPr>
      </p:sp>
      <p:sp>
        <p:nvSpPr>
          <p:cNvPr id="14" name="Text 12"/>
          <p:cNvSpPr/>
          <p:nvPr/>
        </p:nvSpPr>
        <p:spPr>
          <a:xfrm>
            <a:off x="629394" y="203760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Enterprise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9394" y="2400821"/>
            <a:ext cx="22028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b="1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12,000 ₪ / חודש</a:t>
            </a:r>
            <a:endParaRPr lang="he-IL" sz="1100" dirty="0"/>
          </a:p>
        </p:txBody>
      </p:sp>
      <p:sp>
        <p:nvSpPr>
          <p:cNvPr id="16" name="Text 14"/>
          <p:cNvSpPr/>
          <p:nvPr/>
        </p:nvSpPr>
        <p:spPr>
          <a:xfrm>
            <a:off x="487635" y="2928863"/>
            <a:ext cx="248632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lnSpc>
                <a:spcPct val="133000"/>
              </a:lnSpc>
              <a:buSzPct val="100000"/>
              <a:buChar char="•"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כל השוק כולל הגנת נדידה ו-eSIM</a:t>
            </a:r>
            <a:endParaRPr lang="he-IL" sz="1100" dirty="0"/>
          </a:p>
          <a:p>
            <a:pPr algn="r" marL="342900" indent="-342900">
              <a:lnSpc>
                <a:spcPct val="133000"/>
              </a:lnSpc>
              <a:buSzPct val="100000"/>
              <a:buChar char="•"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API + workspace ייעודי ומיתוג</a:t>
            </a:r>
            <a:endParaRPr lang="he-IL" sz="1100" dirty="0"/>
          </a:p>
          <a:p>
            <a:pPr rtl="1" algn="r" marL="342900" indent="-342900">
              <a:lnSpc>
                <a:spcPct val="133000"/>
              </a:lnSpc>
              <a:buSzPct val="100000"/>
              <a:buChar char="•"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תמיכה ייעודית</a:t>
            </a:r>
            <a:endParaRPr lang="he-IL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917454"/>
            <a:ext cx="8151763" cy="602382"/>
          </a:xfrm>
          <a:prstGeom prst="roundRect">
            <a:avLst>
              <a:gd name="adj" fmla="val 3530"/>
            </a:avLst>
          </a:prstGeom>
          <a:solidFill>
            <a:srgbClr val="33221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8943" y="4122986"/>
            <a:ext cx="177180" cy="14175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80677" y="4094634"/>
            <a:ext cx="7549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למה לא לבנות לבד? MOCA כבר רץ בפרודקשן. אתם קונים 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זמן-לשוק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לא קוד.</a:t>
            </a:r>
            <a:endParaRPr lang="he-IL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1044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he-IL" alt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MOCA — מודיעין תחרותי לשוק הסלולר</a:t>
            </a:r>
            <a:endParaRPr lang="he-IL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909018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he-IL" altLang="en-US" sz="3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שבועיים. שלושה מתחרים. אפס סיכון.</a:t>
            </a:r>
            <a:endParaRPr lang="he-IL" sz="3850" dirty="0"/>
          </a:p>
        </p:txBody>
      </p:sp>
      <p:sp>
        <p:nvSpPr>
          <p:cNvPr id="5" name="Text 2"/>
          <p:cNvSpPr/>
          <p:nvPr/>
        </p:nvSpPr>
        <p:spPr>
          <a:xfrm>
            <a:off x="267519" y="3344391"/>
            <a:ext cx="4951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תוך 14 יום תראה שינויים שלא ידעת שקורים. תוך 30 יום לא תבין איך עבדת בלי זה.</a:t>
            </a:r>
            <a:endParaRPr lang="he-IL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3730675"/>
            <a:ext cx="4722763" cy="602382"/>
          </a:xfrm>
          <a:prstGeom prst="roundRect">
            <a:avLst>
              <a:gd name="adj" fmla="val 3530"/>
            </a:avLst>
          </a:prstGeom>
          <a:solidFill>
            <a:srgbClr val="33221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943" y="3936206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0677" y="3907854"/>
            <a:ext cx="4120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10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מתי נוח לך שנתחיל את הפיילוט?</a:t>
            </a:r>
            <a:endParaRPr lang="he-IL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2026-05-30T15:02:49Z</dcterms:created>
  <dcterms:modified xsi:type="dcterms:W3CDTF">2026-05-30T15:02:49Z</dcterms:modified>
</cp:coreProperties>
</file>